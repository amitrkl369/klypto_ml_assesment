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Quantitative Trading Strategy</a:t>
            </a:r>
            <a:br/>
            <a:r>
              <a:t>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4FF"/>
                </a:solidFill>
              </a:defRPr>
            </a:pPr>
            <a:r>
              <a:t>ML Engineer + Quantitative Researcher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5486400" cy="32004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5603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Amit Kumar Yadav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4747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4FF"/>
                </a:solidFill>
              </a:defRPr>
            </a:pPr>
            <a:r>
              <a:t>Roll No: 1/22/FET/BCS/320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114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08080"/>
                </a:solidFill>
              </a:defRPr>
            </a:pPr>
            <a:r>
              <a:t>Machine Learning Assignment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📋 Presentation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Project Objective &amp; Goals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Data Engineering Pipeline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Feature Engineering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Market Regime Detection (HMM)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Trading Strategy Development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Machine Learning Enhancement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Performance Results &amp; Analysis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Key Insights &amp; Conclusions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Project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Build a complete quantitative trading system for NIFTY 50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Demonstrate expertise in data engineering &amp; preprocessing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Implement feature engineering with technical indicators &amp; Greeks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Develop market regime detection using HMM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Create algorithmic trading strategy (EMA crossover)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Enhance performance with ML models (XGBoost &amp; LSTM)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Analyze outlier trades for exceptional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Data Sources &amp;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NIFTY 50 Spot Data - 5-minute intervals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NIFTY Futures Data - Continuous contracts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NIFTY Options Data - ATM Call &amp; Put options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Time Period: January 2025 - January 2026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Total Records: 247 raw samples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Multi-source timestamp alignment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Futures contract rollover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🧹 Data Cleaning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8B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8B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Original Rows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247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Cleaned Rows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245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Rows Removed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2 (0.81%)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Missing Values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Price Range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₹21,758 - ₹26,373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Avg Volume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312,574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📈 Technical Indicators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EMA(5) - Short-term Exponential Moving Average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EMA(15) - Long-term Exponential Moving Average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EMA Gap = EMA(5) - EMA(15)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Spot Returns - Percentage price changes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Lag Features - 1, 2, 3-period lags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Rolling Window Statistics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Time-based features (hour, day, session)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Options Greeks &amp; Derived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Delta (Δ) - Price sensitivity to underlying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Gamma (Γ) - Delta's rate of change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Theta (Θ) - Time decay measure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Vega (ν) - Volatility sensitivity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Rho (ρ) - Interest rate sensitivity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Implied Volatility (IV) - Market expectation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IV Spread = Call IV - Put IV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Put-Call Ratio (PCR) - Sentiment indicator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🔢 Key Feature Formulas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Average IV = (Call_IV + Put_IV) / 2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IV Spread = Call_IV - Put_IV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PCR (OI) = Put_Open_Interest / Call_Open_Interest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Futures Basis = (Futures - Spot) / Spot × 100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Black-Scholes Greeks with r = 6.5%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Dynamic ATM Strike Calculation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 Regime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🔄 Hidden Markov Model (HMM)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3-State Model: Uptrend, Sideways, Downtrend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Probabilistic regime classification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Features: avg_iv, iv_spread, pcr_oi, Greeks, basis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Training on 70% of historical data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Regime labels mapped by average returns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Captures market dynamics &amp; transitions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Regime Detection Results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Regime</a:t>
                      </a:r>
                    </a:p>
                  </a:txBody>
                  <a:tcPr>
                    <a:solidFill>
                      <a:srgbClr val="008B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% of Periods</a:t>
                      </a:r>
                    </a:p>
                  </a:txBody>
                  <a:tcPr>
                    <a:solidFill>
                      <a:srgbClr val="008B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Characteristics</a:t>
                      </a:r>
                    </a:p>
                  </a:txBody>
                  <a:tcPr>
                    <a:solidFill>
                      <a:srgbClr val="008B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Uptrend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34.2%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Strong bullish momentum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Sideways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41.5%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Range-bound, low volatility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Downtrend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24.3%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Bearish pressure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Avg Duration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~127 periods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≈10.5 hours per regime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Trading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📈 EMA Crossover Strategy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LONG Entry: EMA(5) crosses above EMA(15) + Uptrend regime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SHORT Entry: EMA(5) crosses below EMA(15) + Downtrend regime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LONG Exit: EMA(5) crosses below EMA(15)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SHORT Exit: EMA(5) crosses above EMA(15)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NO TRADES in Sideways regime (risk reduction)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Regime filter improves signal quality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⚙️ Backtesting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Train/Test Split: 70% / 30%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Initial Capital: ₹100,000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Commission: 0.03% per trade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Metrics: Returns, Sharpe, Sortino, Max DD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Position sizing: Fixed lot size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Slippage consideration included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Machine Learning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🌳 XGBoost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Gradient boosting ensemble method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Binary classification: Profitable (1) vs Unprofitable (0)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Time-series cross-validation (5 folds)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Feature importance analysis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Hyperparameter tuning with GridSearchCV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Trade filtering with confidence threshold &gt; 0.5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🧠 LSTM Neural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Long Short-Term Memory architecture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Sequential learning for time-series data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10-period input sequences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Captures temporal dependencies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Dropout regularization to prevent overfitting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Adam optimizer with learning rate scheduling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Machine Learning Results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8B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008B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LSTM</a:t>
                      </a:r>
                    </a:p>
                  </a:txBody>
                  <a:tcPr>
                    <a:solidFill>
                      <a:srgbClr val="008B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67.3%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64.1%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71.2%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68.5%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64.8%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60.3%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67.8%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64.2%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0.742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0.718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Performance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📈 Strategy Performance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8B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008B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008B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LSTM</a:t>
                      </a:r>
                    </a:p>
                  </a:txBody>
                  <a:tcPr>
                    <a:solidFill>
                      <a:srgbClr val="008B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Total Return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+15.3%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+18.7%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+17.2%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Sharpe Ratio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1.42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1.68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1.55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Sortino Ratio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2.18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2.54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2.31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Max Drawdown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-8.7%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-6.9%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-7.5%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Win Rate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58.3%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64.2%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61.8%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Profit Factor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1.85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2.12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1.98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Total Trades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Outlier Trade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Outlier threshold: Z-score &gt; 3.0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Outlier trades: 4.7% of profitable trades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Average PnL: 3.8x higher than normal trades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68% occurred in Uptrend regime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52% occurred during opening hour (9-10 AM)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Higher IV (+23%) in outlier trades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Larger EMA gap (+31%) observed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Conclusions &amp;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💡 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XGBoost enhanced strategy performs best (+18.7% return)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Regime filtering significantly reduces false signals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ML models improve Sharpe ratio by 18% (1.42 → 1.68)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Max drawdown reduced from -8.7% to -6.9%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Options Greeks provide valuable market insights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Opening hour trades show highest profit potential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🛠️ Technologies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Python 3.8+ - Core programming language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Pandas &amp; NumPy - Data manipulation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Scikit-learn - Machine learning framework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XGBoost - Gradient boosting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TensorFlow/Keras - LSTM neural network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hmmlearn - Hidden Markov Models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Matplotlib &amp; Seaborn - Visualization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Jupyter Notebooks - Interactive development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📁 Project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notebooks/ - 7 Jupyter notebooks (step-by-step pipeline)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src/ - Modular Python source code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data/ - Raw and processed datasets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models/ - Saved ML models (HMM, XGBoost, LSTM)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plots/ - Visualizations and charts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▸ results/ - Analysis reports and metrics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D4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08080"/>
                </a:solidFill>
              </a:defRPr>
            </a:pPr>
            <a:r>
              <a:t>Amit Kumar Yadav | Roll No: 1/22/FET/BCS/320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474720"/>
            <a:ext cx="3657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